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320" r:id="rId3"/>
    <p:sldId id="321" r:id="rId4"/>
    <p:sldId id="322" r:id="rId5"/>
    <p:sldId id="323" r:id="rId6"/>
    <p:sldId id="325" r:id="rId7"/>
    <p:sldId id="324" r:id="rId8"/>
    <p:sldId id="326" r:id="rId9"/>
    <p:sldId id="327" r:id="rId10"/>
    <p:sldId id="328" r:id="rId11"/>
    <p:sldId id="329" r:id="rId12"/>
    <p:sldId id="330" r:id="rId13"/>
    <p:sldId id="331" r:id="rId14"/>
    <p:sldId id="332" r:id="rId15"/>
    <p:sldId id="333" r:id="rId16"/>
    <p:sldId id="334" r:id="rId17"/>
    <p:sldId id="336" r:id="rId18"/>
    <p:sldId id="337" r:id="rId19"/>
    <p:sldId id="339" r:id="rId20"/>
    <p:sldId id="340" r:id="rId21"/>
    <p:sldId id="338" r:id="rId22"/>
    <p:sldId id="341" r:id="rId23"/>
    <p:sldId id="342" r:id="rId24"/>
    <p:sldId id="343" r:id="rId25"/>
    <p:sldId id="319" r:id="rId26"/>
  </p:sldIdLst>
  <p:sldSz cx="18288000" cy="10287000"/>
  <p:notesSz cx="6858000" cy="9144000"/>
  <p:embeddedFontLst>
    <p:embeddedFont>
      <p:font typeface="Calibri" panose="020F0502020204030204" pitchFamily="34" charset="0"/>
      <p:regular r:id="rId27"/>
      <p:bold r:id="rId28"/>
      <p:italic r:id="rId29"/>
      <p:boldItalic r:id="rId30"/>
    </p:embeddedFont>
    <p:embeddedFont>
      <p:font typeface="Times New Roman" panose="02020603050405020304" pitchFamily="18" charset="0"/>
      <p:regular r:id="rId31"/>
    </p:embeddedFont>
    <p:embeddedFont>
      <p:font typeface="標楷體" panose="03000509000000000000" pitchFamily="65" charset="-120"/>
      <p:regular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維誠 陳" initials="維誠" lastIdx="1" clrIdx="0">
    <p:extLst>
      <p:ext uri="{19B8F6BF-5375-455C-9EA6-DF929625EA0E}">
        <p15:presenceInfo xmlns:p15="http://schemas.microsoft.com/office/powerpoint/2012/main" userId="7153cb2d2c068b9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4D6D"/>
    <a:srgbClr val="FFFFFF"/>
    <a:srgbClr val="DD2D4A"/>
    <a:srgbClr val="A4161A"/>
    <a:srgbClr val="C0C0C0"/>
    <a:srgbClr val="B1D5F7"/>
    <a:srgbClr val="E2F0D7"/>
    <a:srgbClr val="FBECA2"/>
    <a:srgbClr val="FCDFC0"/>
    <a:srgbClr val="E9B37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1" autoAdjust="0"/>
    <p:restoredTop sz="94622" autoAdjust="0"/>
  </p:normalViewPr>
  <p:slideViewPr>
    <p:cSldViewPr>
      <p:cViewPr varScale="1">
        <p:scale>
          <a:sx n="76" d="100"/>
          <a:sy n="76" d="100"/>
        </p:scale>
        <p:origin x="510" y="12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-1051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12/8/2024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www.youtube.com/watch?v=aqZuCthC5BY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>
            <a:extLst>
              <a:ext uri="{FF2B5EF4-FFF2-40B4-BE49-F238E27FC236}">
                <a16:creationId xmlns:a16="http://schemas.microsoft.com/office/drawing/2014/main" id="{FB823A53-BCA7-4538-B441-C0AA97B91D89}"/>
              </a:ext>
            </a:extLst>
          </p:cNvPr>
          <p:cNvGrpSpPr/>
          <p:nvPr/>
        </p:nvGrpSpPr>
        <p:grpSpPr>
          <a:xfrm>
            <a:off x="0" y="9742713"/>
            <a:ext cx="18364200" cy="228600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A000B4FF-BA99-4963-8323-4934494CED6C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C00000"/>
                </a:gs>
              </a:gsLst>
              <a:lin ang="0"/>
            </a:gra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0966AA5-3FC0-46AD-8B65-CC32B88A3563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grpSp>
        <p:nvGrpSpPr>
          <p:cNvPr id="16" name="Group 2">
            <a:extLst>
              <a:ext uri="{FF2B5EF4-FFF2-40B4-BE49-F238E27FC236}">
                <a16:creationId xmlns:a16="http://schemas.microsoft.com/office/drawing/2014/main" id="{9979C5BC-C342-426D-B2AD-7EDB803CE202}"/>
              </a:ext>
            </a:extLst>
          </p:cNvPr>
          <p:cNvGrpSpPr/>
          <p:nvPr/>
        </p:nvGrpSpPr>
        <p:grpSpPr>
          <a:xfrm>
            <a:off x="-76200" y="190501"/>
            <a:ext cx="18364200" cy="228600"/>
            <a:chOff x="0" y="0"/>
            <a:chExt cx="4816593" cy="543967"/>
          </a:xfrm>
        </p:grpSpPr>
        <p:sp>
          <p:nvSpPr>
            <p:cNvPr id="17" name="Freeform 3">
              <a:extLst>
                <a:ext uri="{FF2B5EF4-FFF2-40B4-BE49-F238E27FC236}">
                  <a16:creationId xmlns:a16="http://schemas.microsoft.com/office/drawing/2014/main" id="{11E95A77-01DF-4801-B0D1-BF4D073321AA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C00000"/>
                </a:gs>
              </a:gsLst>
              <a:lin ang="0"/>
            </a:gradFill>
          </p:spPr>
          <p:txBody>
            <a:bodyPr/>
            <a:lstStyle/>
            <a:p>
              <a:endParaRPr lang="zh-TW" altLang="en-US" dirty="0"/>
            </a:p>
          </p:txBody>
        </p:sp>
        <p:sp>
          <p:nvSpPr>
            <p:cNvPr id="18" name="TextBox 4">
              <a:extLst>
                <a:ext uri="{FF2B5EF4-FFF2-40B4-BE49-F238E27FC236}">
                  <a16:creationId xmlns:a16="http://schemas.microsoft.com/office/drawing/2014/main" id="{3905798F-03CE-4E8D-BBE4-26518B8BEB0A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8005334" y="5747852"/>
            <a:ext cx="2386491" cy="5890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altLang="zh-TW" sz="3600" dirty="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Javascript01</a:t>
            </a:r>
            <a:endParaRPr lang="en-US" sz="3600" dirty="0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100183" y="7114577"/>
            <a:ext cx="2076748" cy="67390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739"/>
              </a:lnSpc>
              <a:spcBef>
                <a:spcPct val="0"/>
              </a:spcBef>
            </a:pPr>
            <a:r>
              <a:rPr lang="zh-TW" altLang="en-US" sz="4099" dirty="0">
                <a:solidFill>
                  <a:srgbClr val="000000"/>
                </a:solidFill>
                <a:latin typeface="標楷體" panose="03000509000000000000" pitchFamily="65" charset="-120"/>
                <a:ea typeface="標楷體" panose="03000509000000000000" pitchFamily="65" charset="-120"/>
                <a:cs typeface="王漢宗顏楷體"/>
                <a:sym typeface="王漢宗顏楷體"/>
              </a:rPr>
              <a:t>陳世曄</a:t>
            </a:r>
            <a:endParaRPr lang="en-US" sz="4099" dirty="0">
              <a:solidFill>
                <a:srgbClr val="000000"/>
              </a:solidFill>
              <a:latin typeface="標楷體" panose="03000509000000000000" pitchFamily="65" charset="-12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5214714" y="2390526"/>
            <a:ext cx="7727639" cy="33871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zh-TW" altLang="en-US" sz="8000" b="1" dirty="0">
                <a:latin typeface="標楷體" panose="03000509000000000000" pitchFamily="65" charset="-120"/>
                <a:ea typeface="標楷體" panose="03000509000000000000" pitchFamily="65" charset="-120"/>
                <a:cs typeface="王漢宗顏楷體"/>
                <a:sym typeface="王漢宗顏楷體"/>
              </a:rPr>
              <a:t>互動式網頁</a:t>
            </a:r>
            <a:endParaRPr lang="en-US" altLang="zh-TW" sz="8000" b="1" dirty="0">
              <a:latin typeface="標楷體" panose="03000509000000000000" pitchFamily="65" charset="-12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algn="ctr">
              <a:lnSpc>
                <a:spcPts val="14000"/>
              </a:lnSpc>
              <a:spcBef>
                <a:spcPct val="0"/>
              </a:spcBef>
            </a:pPr>
            <a:r>
              <a:rPr lang="zh-TW" altLang="en-US" sz="8000" b="1" dirty="0">
                <a:latin typeface="標楷體" panose="03000509000000000000" pitchFamily="65" charset="-120"/>
                <a:ea typeface="標楷體" panose="03000509000000000000" pitchFamily="65" charset="-120"/>
                <a:cs typeface="王漢宗顏楷體"/>
                <a:sym typeface="王漢宗顏楷體"/>
              </a:rPr>
              <a:t>程式設計與應用</a:t>
            </a:r>
            <a:endParaRPr lang="en-US" sz="8000" b="1" dirty="0">
              <a:latin typeface="標楷體" panose="03000509000000000000" pitchFamily="65" charset="-12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sp>
        <p:nvSpPr>
          <p:cNvPr id="26" name="Freeform 3">
            <a:extLst>
              <a:ext uri="{FF2B5EF4-FFF2-40B4-BE49-F238E27FC236}">
                <a16:creationId xmlns:a16="http://schemas.microsoft.com/office/drawing/2014/main" id="{02803009-007C-4C4D-AE71-5A73DD21BDD5}"/>
              </a:ext>
            </a:extLst>
          </p:cNvPr>
          <p:cNvSpPr/>
          <p:nvPr/>
        </p:nvSpPr>
        <p:spPr>
          <a:xfrm flipV="1">
            <a:off x="-76200" y="-80579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0" y="7052879"/>
                </a:moveTo>
                <a:lnTo>
                  <a:pt x="5374881" y="7052879"/>
                </a:lnTo>
                <a:lnTo>
                  <a:pt x="5374881" y="0"/>
                </a:lnTo>
                <a:lnTo>
                  <a:pt x="0" y="0"/>
                </a:lnTo>
                <a:lnTo>
                  <a:pt x="0" y="7052879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27" name="Freeform 2">
            <a:extLst>
              <a:ext uri="{FF2B5EF4-FFF2-40B4-BE49-F238E27FC236}">
                <a16:creationId xmlns:a16="http://schemas.microsoft.com/office/drawing/2014/main" id="{F226E2F4-27E4-4AF2-9835-250433DAB8FE}"/>
              </a:ext>
            </a:extLst>
          </p:cNvPr>
          <p:cNvSpPr/>
          <p:nvPr/>
        </p:nvSpPr>
        <p:spPr>
          <a:xfrm flipH="1">
            <a:off x="12978433" y="3234121"/>
            <a:ext cx="5374881" cy="7052879"/>
          </a:xfrm>
          <a:custGeom>
            <a:avLst/>
            <a:gdLst/>
            <a:ahLst/>
            <a:cxnLst/>
            <a:rect l="l" t="t" r="r" b="b"/>
            <a:pathLst>
              <a:path w="5374881" h="7052879">
                <a:moveTo>
                  <a:pt x="5374881" y="0"/>
                </a:moveTo>
                <a:lnTo>
                  <a:pt x="0" y="0"/>
                </a:lnTo>
                <a:lnTo>
                  <a:pt x="0" y="7052879"/>
                </a:lnTo>
                <a:lnTo>
                  <a:pt x="5374881" y="7052879"/>
                </a:lnTo>
                <a:lnTo>
                  <a:pt x="537488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zh-TW" altLang="en-US" dirty="0"/>
          </a:p>
        </p:txBody>
      </p:sp>
      <p:pic>
        <p:nvPicPr>
          <p:cNvPr id="22530" name="Picture 2">
            <a:extLst>
              <a:ext uri="{FF2B5EF4-FFF2-40B4-BE49-F238E27FC236}">
                <a16:creationId xmlns:a16="http://schemas.microsoft.com/office/drawing/2014/main" id="{964588E4-8283-4F9B-A33E-682A8E8D4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895426" y="8974191"/>
            <a:ext cx="678815" cy="678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2" name="Picture 4">
            <a:extLst>
              <a:ext uri="{FF2B5EF4-FFF2-40B4-BE49-F238E27FC236}">
                <a16:creationId xmlns:a16="http://schemas.microsoft.com/office/drawing/2014/main" id="{18D2AFF1-EB0C-43BF-A4DF-1D40C6D9B40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98" t="11957" r="6029" b="6029"/>
          <a:stretch/>
        </p:blipFill>
        <p:spPr bwMode="auto">
          <a:xfrm>
            <a:off x="231411" y="7675074"/>
            <a:ext cx="2232181" cy="2057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34" name="Picture 6">
            <a:extLst>
              <a:ext uri="{FF2B5EF4-FFF2-40B4-BE49-F238E27FC236}">
                <a16:creationId xmlns:a16="http://schemas.microsoft.com/office/drawing/2014/main" id="{E4BB8C29-7CAB-446E-B24B-D3E9C66D107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850" t="39146" r="12391" b="28732"/>
          <a:stretch/>
        </p:blipFill>
        <p:spPr bwMode="auto">
          <a:xfrm>
            <a:off x="14709091" y="462701"/>
            <a:ext cx="3578905" cy="15586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圖片 31">
            <a:extLst>
              <a:ext uri="{FF2B5EF4-FFF2-40B4-BE49-F238E27FC236}">
                <a16:creationId xmlns:a16="http://schemas.microsoft.com/office/drawing/2014/main" id="{4AAF9B4B-B48D-43FC-82F3-F116A90DF004}"/>
              </a:ext>
            </a:extLst>
          </p:cNvPr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058" t="16278" r="22492" b="22926"/>
          <a:stretch/>
        </p:blipFill>
        <p:spPr>
          <a:xfrm>
            <a:off x="9078534" y="7922050"/>
            <a:ext cx="3951666" cy="19458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5718888" cy="1666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是一種應用廣泛的瀏覽器端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，瀏覽器大多內建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直譯器。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HTML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CSS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都是網頁設計的核心技術，其中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用來定義網頁的行為，例如即時更新地圖、輪播圖片等。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152400" y="7985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JavaScript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是甚麼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</p:spTree>
    <p:extLst>
      <p:ext uri="{BB962C8B-B14F-4D97-AF65-F5344CB8AC3E}">
        <p14:creationId xmlns:p14="http://schemas.microsoft.com/office/powerpoint/2010/main" val="974927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B516BD0-8DFD-4EC3-8B67-F180CF4DBC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85051" y="1668293"/>
            <a:ext cx="9202945" cy="64001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1" y="1785472"/>
            <a:ext cx="8878136" cy="6860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瀏覽器透過作業系統，將網址發送給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DNS Server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DNS Server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解析網址，將處理的結果組成完整的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IP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位址並回傳。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瀏覽器知道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IP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位址後發出網路請求，透過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TCP/IP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的通訊協定對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Target Server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，也就是網頁所在的伺服器來建立連線。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Target Server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收到請求後，把所需的資源以封包的形式回應。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解析完封包後，瀏覽器會收到相關的檔案和狀態資訊。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HTML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CSS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會分別透過各自的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Parser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建立樹狀結構的資料模型：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DOM Tree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CSSOM Tree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瀏覽器透過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Render Tree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計算出每個節點對應到頁面上的實際位置、形狀與大小等資訊，輸出一個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Layout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的資料模型。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瀏覽器透過這個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Layout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渲染在頁面上。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152400" y="7985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瀏覽器基本運作流程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</p:spTree>
    <p:extLst>
      <p:ext uri="{BB962C8B-B14F-4D97-AF65-F5344CB8AC3E}">
        <p14:creationId xmlns:p14="http://schemas.microsoft.com/office/powerpoint/2010/main" val="20399862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141284" cy="2243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寫在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&lt;script&gt;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裡面。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一般會建議寫在最後面，尤其是當有大的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程式時，先讓渲染引擎將網頁顯示出來再載入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程式，比較不會有畫面延遲的情況。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152400" y="7985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在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HTML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中寫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JS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4FF73BA-4878-4B2E-A063-131D92D984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869" y="4122770"/>
            <a:ext cx="10893433" cy="589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140170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5414088" cy="3396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的型別分為基本型別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(primitive type)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與物件型別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(object type)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兩種類型。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基本型別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(primitive type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 number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 string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 </a:t>
            </a:r>
            <a:r>
              <a:rPr lang="en-US" altLang="zh-TW" sz="2600" dirty="0" err="1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boolen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 undefined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 null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物件型別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(object type)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 err="1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Funtion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Array</a:t>
            </a: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Object(JS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的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Object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比較像是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python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的</a:t>
            </a:r>
            <a:r>
              <a:rPr lang="en-US" altLang="zh-TW" sz="2600" dirty="0" err="1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dictionery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，屬於一種關聯陣列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(associative array))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152400" y="7985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Data Type</a:t>
            </a:r>
          </a:p>
        </p:txBody>
      </p:sp>
    </p:spTree>
    <p:extLst>
      <p:ext uri="{BB962C8B-B14F-4D97-AF65-F5344CB8AC3E}">
        <p14:creationId xmlns:p14="http://schemas.microsoft.com/office/powerpoint/2010/main" val="35482480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5414088" cy="166513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全域作用域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(Global Scope)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：程式碼的任何地方都可以存取跟操作該變數。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函式作用域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(Function Scope)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區塊作用域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(Block Scope)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：像是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for/while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迴圈範圍、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if...else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條件句範圍。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152400" y="7985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作用域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(Scope)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497AA70-E603-4DB0-8438-055240E0BE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576" y="3471165"/>
            <a:ext cx="8686800" cy="50838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02962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7794088" cy="80142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Var</a:t>
            </a: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可重新賦值（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Mutable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可能導致變數提升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(Hoisting)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問題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Let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：避免使用全域變數污染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可重新賦值（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Mutable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適合用於需要變動的變數。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Const</a:t>
            </a: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不可重新賦值（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Immutable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必須在宣告時初始化。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適合用於常數或不會變動的資料。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可以命名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function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跟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object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1371600" lvl="2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對於物件來說，我們是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值內部的屬性</a:t>
            </a:r>
            <a:r>
              <a:rPr lang="en-US" altLang="zh-TW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  <a:r>
              <a:rPr lang="zh-TW" altLang="en-US" sz="2600" dirty="0">
                <a:solidFill>
                  <a:srgbClr val="FF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solidFill>
                <a:srgbClr val="FF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  <a:hlinkClick r:id="rId2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  <a:hlinkClick r:id="rId2"/>
              </a:rPr>
              <a:t>補充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  <a:hlinkClick r:id="rId2"/>
              </a:rPr>
              <a:t>】JavaScript var let const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  <a:hlinkClick r:id="rId2"/>
              </a:rPr>
              <a:t>的區別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  <a:hlinkClick r:id="rId2"/>
              </a:rPr>
              <a:t>- Web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  <a:hlinkClick r:id="rId2"/>
              </a:rPr>
              <a:t>前端工程師面試題講解</a:t>
            </a:r>
            <a:endParaRPr lang="zh-TW" altLang="en-US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0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var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、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let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、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const</a:t>
            </a:r>
          </a:p>
        </p:txBody>
      </p:sp>
      <p:sp>
        <p:nvSpPr>
          <p:cNvPr id="8" name="TextBox 10">
            <a:extLst>
              <a:ext uri="{FF2B5EF4-FFF2-40B4-BE49-F238E27FC236}">
                <a16:creationId xmlns:a16="http://schemas.microsoft.com/office/drawing/2014/main" id="{F1F67C17-7BC9-482F-85CD-6C83E1B3330B}"/>
              </a:ext>
            </a:extLst>
          </p:cNvPr>
          <p:cNvSpPr txBox="1"/>
          <p:nvPr/>
        </p:nvSpPr>
        <p:spPr>
          <a:xfrm>
            <a:off x="8348196" y="1785472"/>
            <a:ext cx="9732892" cy="2820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變數提升（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Hoisting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）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Hoisting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是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中的一個特性，在程式碼執行之前，變數和函數的宣告會被提升到其作用域的最上方。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意味著即使變數是在程式碼後面宣告的，你仍然可以在宣告之前使用它們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30EA6063-3F6C-4256-A05B-060CB4C109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41155" y="4699852"/>
            <a:ext cx="4765245" cy="19060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08FFE684-FEA2-4473-BC21-22962A3F760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6393" y="6699813"/>
            <a:ext cx="9619791" cy="23298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60659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5566488" cy="2243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函式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(Function)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是程序中用來執行特定任務的一段代碼，可以重複呼叫來完成任務或取得輸出結果。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參數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(Arguments/Parameters)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是輸入值，傳遞給函式進行處理。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參數可以有多個，也可以沒有參數。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函式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(Function)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0CA35150-F37B-460F-8918-D0A1F1158B28}"/>
              </a:ext>
            </a:extLst>
          </p:cNvPr>
          <p:cNvSpPr txBox="1"/>
          <p:nvPr/>
        </p:nvSpPr>
        <p:spPr>
          <a:xfrm>
            <a:off x="6477000" y="2341690"/>
            <a:ext cx="9296400" cy="175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返回值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(Return)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函式的執行結果，可以使用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return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關鍵字返回。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若未明確返回值，默認為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undefined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C5BECAFD-5194-41EA-955F-53998913ED35}"/>
              </a:ext>
            </a:extLst>
          </p:cNvPr>
          <p:cNvSpPr txBox="1"/>
          <p:nvPr/>
        </p:nvSpPr>
        <p:spPr>
          <a:xfrm>
            <a:off x="206912" y="4100377"/>
            <a:ext cx="13737688" cy="233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函式的類型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函式表達式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(Function Expression)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：將函式賦值給變數，用變數名稱呼叫函式。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匿名函式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(Anonymous Function)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：沒有名稱的函式，常用於臨時執行的邏輯。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箭頭函式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(Arrow Function)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：簡化的函式寫法，適合用於短小的邏輯。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349AE76-21BB-4DAC-9E14-A52B8F6036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12" y="6743700"/>
            <a:ext cx="5726852" cy="2335768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DD0E627-F852-4593-9485-41F561828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50946" y="6743700"/>
            <a:ext cx="5074254" cy="233576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FAC15D61-8C1B-4E6F-A426-CCFEBFFAC5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242382" y="6743701"/>
            <a:ext cx="6838706" cy="1993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32244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1" y="1785472"/>
            <a:ext cx="8784689" cy="108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Closure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：是指在函式內部返回另一個函式時，內部函式可以「記住」外部函式的變數，即使外部函式已經執行完畢。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5730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Closure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 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閉包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) 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和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Currying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65250D8F-94DE-4B47-BA6F-AE5AB1A8A2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3047060"/>
            <a:ext cx="7818363" cy="3849040"/>
          </a:xfrm>
          <a:prstGeom prst="rect">
            <a:avLst/>
          </a:prstGeom>
        </p:spPr>
      </p:pic>
      <p:sp>
        <p:nvSpPr>
          <p:cNvPr id="9" name="TextBox 10">
            <a:extLst>
              <a:ext uri="{FF2B5EF4-FFF2-40B4-BE49-F238E27FC236}">
                <a16:creationId xmlns:a16="http://schemas.microsoft.com/office/drawing/2014/main" id="{CABB0AAE-4E11-47A0-BD5C-6652DA3CBEAE}"/>
              </a:ext>
            </a:extLst>
          </p:cNvPr>
          <p:cNvSpPr txBox="1"/>
          <p:nvPr/>
        </p:nvSpPr>
        <p:spPr>
          <a:xfrm>
            <a:off x="9296400" y="1807287"/>
            <a:ext cx="8969825" cy="3396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函數柯里化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(Currying)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：將一個需要多個參數的函式，拆分成一系列只接受單一參數的函式，逐步傳遞參數來完成最終計算。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優勢：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提升重用性：固定部分參數，讓函式更靈活。 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提升可讀性：減少重複傳遞固定參數的麻煩。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DF2CF3D8-AD5C-4FD8-B622-9AB6EFCA95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99" y="7023140"/>
            <a:ext cx="16230601" cy="3062024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90959443-282A-457D-B702-356BC421C562}"/>
              </a:ext>
            </a:extLst>
          </p:cNvPr>
          <p:cNvSpPr txBox="1"/>
          <p:nvPr/>
        </p:nvSpPr>
        <p:spPr>
          <a:xfrm>
            <a:off x="8159448" y="6495990"/>
            <a:ext cx="1277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(Closure)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29321D85-3140-4903-A30E-2B0620F17C85}"/>
              </a:ext>
            </a:extLst>
          </p:cNvPr>
          <p:cNvSpPr txBox="1"/>
          <p:nvPr/>
        </p:nvSpPr>
        <p:spPr>
          <a:xfrm>
            <a:off x="16708957" y="9685054"/>
            <a:ext cx="1277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Currying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580718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5730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Closure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 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閉包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) 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和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Currying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ADBD1C75-25D3-44CF-9067-21B71895E0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799" y="2019300"/>
            <a:ext cx="15743072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2768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2975688" cy="33975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IIFE(Immediately Invoked Function)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是一種在定義完後立即執行的函式。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不需要顯式呼叫，函式會自動執行一次。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優點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防止汙染全域變數：變數作用域被封裝在函式內，不會影響全域範圍。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適合一次性運算：適用於僅需執行一次的初始化或計算邏輯，簡化代碼結構。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立即求值：如果函式有回傳值，會立即返回並賦值給變數。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72974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立即執行函式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(IIFE)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9CB16CF-35E0-4E8B-AE29-DFBEAA0508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541" y="5304146"/>
            <a:ext cx="13581659" cy="3511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2145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708488" cy="2820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(Object)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：代表生活中的事物，由 屬性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(Property)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 方法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(Method)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組成。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汽車是一個物件，包含品牌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屬性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)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和啟動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方法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屬性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(Property)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：描述物件的特徵或狀態。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汽車的顏色、大小等。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物件導向基本概念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83468BFE-1265-42A3-9BCA-88835B2D7940}"/>
              </a:ext>
            </a:extLst>
          </p:cNvPr>
          <p:cNvSpPr txBox="1"/>
          <p:nvPr/>
        </p:nvSpPr>
        <p:spPr>
          <a:xfrm>
            <a:off x="8929914" y="1739305"/>
            <a:ext cx="9296400" cy="291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方法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(Method)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：描述物件可以執行的行為或操作。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汽車的發動、停止、加速等動作。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事件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(Event)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：特定情況下物件的反應，例如按下按鈕觸發某動作。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汽車的加速事件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(accelerate)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EA23231-E16A-49D8-B60E-12F4916CDC5D}"/>
              </a:ext>
            </a:extLst>
          </p:cNvPr>
          <p:cNvSpPr txBox="1"/>
          <p:nvPr/>
        </p:nvSpPr>
        <p:spPr>
          <a:xfrm>
            <a:off x="206912" y="4605988"/>
            <a:ext cx="12344400" cy="23345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類別與物件的關係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類別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(Class)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：定義物件的模板或藍圖，用於創建具相同屬性和方法的物件。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Car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類別可以用來創建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Toyota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Tesla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等物件。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(Object)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：類別的實例化結果。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39BC225-A72A-41B3-85D5-5F5F8B9415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99402" y="5773263"/>
            <a:ext cx="7696200" cy="4314851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A77A8F23-13FF-47E6-AD33-8EA0D74F4F5C}"/>
              </a:ext>
            </a:extLst>
          </p:cNvPr>
          <p:cNvSpPr txBox="1"/>
          <p:nvPr/>
        </p:nvSpPr>
        <p:spPr>
          <a:xfrm>
            <a:off x="206912" y="7048500"/>
            <a:ext cx="12344400" cy="233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【JavaScript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中的三種物件模型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ECMAScript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物件模型：基本語法與資料型別。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DOM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物件模型：針對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HTML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元素的操作。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BOM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物件模型：瀏覽器相關的物件，例如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`Window`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`Location`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</p:spTree>
    <p:extLst>
      <p:ext uri="{BB962C8B-B14F-4D97-AF65-F5344CB8AC3E}">
        <p14:creationId xmlns:p14="http://schemas.microsoft.com/office/powerpoint/2010/main" val="30657027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141284" cy="1666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使用實體方式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(Object Literal)】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語法簡單直觀，適合快速建立物件。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直接使用花括號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{}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定義物件及其屬性與方法。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建立物件的兩種方式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sp>
        <p:nvSpPr>
          <p:cNvPr id="7" name="TextBox 10">
            <a:extLst>
              <a:ext uri="{FF2B5EF4-FFF2-40B4-BE49-F238E27FC236}">
                <a16:creationId xmlns:a16="http://schemas.microsoft.com/office/drawing/2014/main" id="{AAAB32B3-7152-48BA-B963-5DE1D24F094F}"/>
              </a:ext>
            </a:extLst>
          </p:cNvPr>
          <p:cNvSpPr txBox="1"/>
          <p:nvPr/>
        </p:nvSpPr>
        <p:spPr>
          <a:xfrm>
            <a:off x="8937171" y="1776744"/>
            <a:ext cx="8141284" cy="1666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使用建構子方式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(Constructor Function)】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適合建立結構相似的多個物件。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使用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new Object()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或自定義建構子函式進行建立。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B9CC77CA-276C-4780-885B-7886477B0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6" y="3690256"/>
            <a:ext cx="8737527" cy="4811272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A742BCE6-7ECF-4AEB-B4C7-D176B45B6F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5400" y="3690257"/>
            <a:ext cx="9165390" cy="41298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21174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327488" cy="2243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封裝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(Encapsulation)】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將物件的屬性和方法封裝在內部，限制外部直接存取，提供物件的安全性。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使用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getter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和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setter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來間接存取或修改屬性。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9540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物件導向的四大特性 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(OOP)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5EF918C5-F3D8-488E-B507-8DB314B856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157241"/>
            <a:ext cx="6844324" cy="5560211"/>
          </a:xfrm>
          <a:prstGeom prst="rect">
            <a:avLst/>
          </a:prstGeom>
        </p:spPr>
      </p:pic>
      <p:sp>
        <p:nvSpPr>
          <p:cNvPr id="12" name="TextBox 10">
            <a:extLst>
              <a:ext uri="{FF2B5EF4-FFF2-40B4-BE49-F238E27FC236}">
                <a16:creationId xmlns:a16="http://schemas.microsoft.com/office/drawing/2014/main" id="{E52F1398-DC20-4F0A-BFEE-08855C30F6CF}"/>
              </a:ext>
            </a:extLst>
          </p:cNvPr>
          <p:cNvSpPr txBox="1"/>
          <p:nvPr/>
        </p:nvSpPr>
        <p:spPr>
          <a:xfrm>
            <a:off x="8763000" y="1785471"/>
            <a:ext cx="8327488" cy="1666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繼承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(Inheritance)】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子類別繼承父類別的屬性和方法，實現代碼重用。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使用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extends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關鍵字實現繼承。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31EBC0-968B-473A-AE89-20C165077D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3000" y="3514844"/>
            <a:ext cx="9067800" cy="6568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8453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327488" cy="2243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多型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(Polymorphism)】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不同的物件可以用相同的方法呼叫，並根據物件的類型執行不同的行為。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可透過覆寫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(Override)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父類別的方法來實現。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9540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物件導向的四大特性 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(OOP)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E52F1398-DC20-4F0A-BFEE-08855C30F6CF}"/>
              </a:ext>
            </a:extLst>
          </p:cNvPr>
          <p:cNvSpPr txBox="1"/>
          <p:nvPr/>
        </p:nvSpPr>
        <p:spPr>
          <a:xfrm>
            <a:off x="8763000" y="1785471"/>
            <a:ext cx="8327488" cy="1666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抽象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(Abstraction)】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將物件的核心功能對外暴露，隱藏不必要的細節。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中可透過抽象類別或接口模擬抽象。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3541FBF3-A529-46A7-BAE2-788A80831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41607"/>
            <a:ext cx="6044844" cy="6134398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A0A4F6EF-30B8-4E67-AB9C-BE5947DFF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0832" y="3554757"/>
            <a:ext cx="9409141" cy="6621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8449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141284" cy="51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【Number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7254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內建物件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F03F1882-17E1-47DF-8FBA-4F717A2458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83" y="2476500"/>
            <a:ext cx="9389383" cy="314812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4E165479-5844-46AF-BADA-79B0B745B4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53599" y="2476499"/>
            <a:ext cx="8356517" cy="7114727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16CAD393-9A65-47D8-BC94-26C476689696}"/>
              </a:ext>
            </a:extLst>
          </p:cNvPr>
          <p:cNvSpPr txBox="1"/>
          <p:nvPr/>
        </p:nvSpPr>
        <p:spPr>
          <a:xfrm>
            <a:off x="4114800" y="5659094"/>
            <a:ext cx="152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常用屬性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2BDFC33-5CAB-4168-8F3C-8F4566F6C9D5}"/>
              </a:ext>
            </a:extLst>
          </p:cNvPr>
          <p:cNvSpPr txBox="1"/>
          <p:nvPr/>
        </p:nvSpPr>
        <p:spPr>
          <a:xfrm>
            <a:off x="13335000" y="9591226"/>
            <a:ext cx="1524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zh-TW" altLang="en-US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常用方法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8783226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43197" y="1717107"/>
            <a:ext cx="8141284" cy="51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【String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7254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內建物件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66D346B-A49B-459E-A4B1-9526835CBB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977" y="2263867"/>
            <a:ext cx="9187245" cy="554442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BC863C50-699C-475D-AB19-888D8F7AE2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6471" y="2276567"/>
            <a:ext cx="8674552" cy="6924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957436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43197" y="1717107"/>
            <a:ext cx="8141284" cy="51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【Math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7254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內建物件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08C3B6-336E-4FA8-8591-46E54D79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4" y="2400300"/>
            <a:ext cx="1074178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49645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43197" y="1717107"/>
            <a:ext cx="8141284" cy="51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【Date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7254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內建物件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08C3B6-336E-4FA8-8591-46E54D793E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454" y="2400300"/>
            <a:ext cx="10741782" cy="632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78927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43197" y="1717107"/>
            <a:ext cx="8141284" cy="51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【Array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7254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內建物件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B0F8AE0-CDFC-4B2B-8BEB-F818AD559C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73" y="2400300"/>
            <a:ext cx="8662428" cy="5915804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8067B063-055F-444E-B9AF-79999CEE2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91599" y="2441848"/>
            <a:ext cx="8633175" cy="587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853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1604088" cy="224343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Error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物件常用屬性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`message`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 錯誤的簡短描述。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`name`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 錯誤名稱（如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</a:t>
            </a:r>
            <a:r>
              <a:rPr lang="en-US" altLang="zh-TW" sz="2600" dirty="0" err="1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TypeError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、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</a:t>
            </a:r>
            <a:r>
              <a:rPr lang="en-US" altLang="zh-TW" sz="2600" dirty="0" err="1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ReferenceError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）。	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914400" lvl="1" indent="-457200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`stack`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： 錯誤的堆疊資訊（詳細的錯誤呼叫鏈路）。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12115800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Error </a:t>
            </a: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物件與錯誤處理機制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D10E389-990A-4DDF-9B2E-6F098A693E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4227290"/>
            <a:ext cx="5253996" cy="307110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95EC25F-DBF9-4A46-8B7E-C535E888CE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143" y="7496777"/>
            <a:ext cx="14129657" cy="2611642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66D557B2-9504-45AD-BCC0-9376DBF0C77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0" y="1839712"/>
            <a:ext cx="8819722" cy="4827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8750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15947488" cy="108927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中，每個物件都有一個隱藏屬性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[[Prototype]]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，指向另一個物件，稱為「原型」。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物件可以透過原型繼承屬性和方法。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原型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(Prototype)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FBCFEB0-09FB-41ED-BFF1-4FAFC2FC87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802" y="2476500"/>
            <a:ext cx="7784964" cy="4267200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63C3438F-6F31-4DB8-BA56-A9DE2DF928F1}"/>
              </a:ext>
            </a:extLst>
          </p:cNvPr>
          <p:cNvSpPr txBox="1"/>
          <p:nvPr/>
        </p:nvSpPr>
        <p:spPr>
          <a:xfrm>
            <a:off x="76200" y="2874745"/>
            <a:ext cx="10134602" cy="17586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建構函式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在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JavaScript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中，如果你想要創建多個類似的物件，通常會使用建構函式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(</a:t>
            </a:r>
            <a:r>
              <a:rPr lang="en-US" altLang="zh-TW" sz="2600" dirty="0" err="1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onstructor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 function)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。</a:t>
            </a:r>
            <a:endParaRPr lang="zh-TW" altLang="en-US" sz="2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4B43BA81-F591-4FFA-B4B8-F81FAFA9DF3F}"/>
              </a:ext>
            </a:extLst>
          </p:cNvPr>
          <p:cNvSpPr txBox="1"/>
          <p:nvPr/>
        </p:nvSpPr>
        <p:spPr>
          <a:xfrm>
            <a:off x="12700" y="4610100"/>
            <a:ext cx="9969500" cy="2335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【prototype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屬性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如果我們想要讓所有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`Person`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建構函式創建的物件共享一些方法或屬性，可以使用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`prototype`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屬性。所有由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`Person`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sym typeface="王漢宗顏楷體"/>
              </a:rPr>
              <a:t>創建的物件都會共享這些方法。</a:t>
            </a:r>
            <a:endParaRPr lang="zh-TW" altLang="en-US" sz="26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379FFA4-1163-4A11-8143-A9E52706D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912" y="7129245"/>
            <a:ext cx="12462992" cy="2335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036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7565488" cy="166635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擴展原型屬性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你可以在建構函式的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prototype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屬性上新增更多功能，讓所有物件共享。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原型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(Prototype)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ED8375A8-1F52-4E6F-B21B-D1146FD401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2311" y="3745855"/>
            <a:ext cx="7683734" cy="279529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D2F8848-EC47-4B05-8F26-1F9D7B483C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827012"/>
            <a:ext cx="9622888" cy="5789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16278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7794088" cy="2820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  <a:spcBef>
                <a:spcPct val="0"/>
              </a:spcBef>
            </a:pP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【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原型鏈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(Prototype Chain)】</a:t>
            </a: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當你嘗試訪問物件的某個屬性或方法時，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會沿著原型鏈查找。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如果物件本身沒有該屬性或方法，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JavaScript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會查看物件的原型，依此類推，直到 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null 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終止。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原型</a:t>
            </a:r>
            <a:r>
              <a:rPr lang="en-US" altLang="zh-TW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(Prototype)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87B420C-68CA-4FD4-9150-E88AE8D7AC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3401" y="840129"/>
            <a:ext cx="9927688" cy="9285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537419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10">
            <a:extLst>
              <a:ext uri="{FF2B5EF4-FFF2-40B4-BE49-F238E27FC236}">
                <a16:creationId xmlns:a16="http://schemas.microsoft.com/office/drawing/2014/main" id="{2A659F81-1ED8-4106-8C45-6A01D7DBC583}"/>
              </a:ext>
            </a:extLst>
          </p:cNvPr>
          <p:cNvSpPr txBox="1"/>
          <p:nvPr/>
        </p:nvSpPr>
        <p:spPr>
          <a:xfrm>
            <a:off x="206912" y="1785472"/>
            <a:ext cx="8141284" cy="10880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設定超連結顏色：</a:t>
            </a:r>
            <a:r>
              <a:rPr lang="en-US" altLang="zh-TW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link-underline-</a:t>
            </a: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顏色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  <a:p>
            <a:pPr marL="457200" indent="-457200" algn="l">
              <a:lnSpc>
                <a:spcPts val="4480"/>
              </a:lnSpc>
              <a:spcBef>
                <a:spcPct val="0"/>
              </a:spcBef>
              <a:buFont typeface="Wingdings" panose="05000000000000000000" pitchFamily="2" charset="2"/>
              <a:buChar char="v"/>
            </a:pPr>
            <a:r>
              <a:rPr lang="zh-TW" altLang="en-US" sz="26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設定超連結透明度</a:t>
            </a:r>
            <a:endParaRPr lang="en-US" altLang="zh-TW" sz="2600" dirty="0">
              <a:latin typeface="Times New Roman" panose="02020603050405020304" pitchFamily="18" charset="0"/>
              <a:ea typeface="標楷體" panose="03000509000000000000" pitchFamily="65" charset="-120"/>
              <a:cs typeface="王漢宗顏楷體"/>
              <a:sym typeface="王漢宗顏楷體"/>
            </a:endParaRPr>
          </a:p>
        </p:txBody>
      </p:sp>
      <p:grpSp>
        <p:nvGrpSpPr>
          <p:cNvPr id="28" name="Group 2">
            <a:extLst>
              <a:ext uri="{FF2B5EF4-FFF2-40B4-BE49-F238E27FC236}">
                <a16:creationId xmlns:a16="http://schemas.microsoft.com/office/drawing/2014/main" id="{C571510F-4237-4159-A25E-D023AAABD06D}"/>
              </a:ext>
            </a:extLst>
          </p:cNvPr>
          <p:cNvGrpSpPr/>
          <p:nvPr/>
        </p:nvGrpSpPr>
        <p:grpSpPr>
          <a:xfrm>
            <a:off x="0" y="0"/>
            <a:ext cx="18288000" cy="1691609"/>
            <a:chOff x="0" y="0"/>
            <a:chExt cx="4816593" cy="543967"/>
          </a:xfrm>
        </p:grpSpPr>
        <p:sp>
          <p:nvSpPr>
            <p:cNvPr id="29" name="Freeform 3">
              <a:extLst>
                <a:ext uri="{FF2B5EF4-FFF2-40B4-BE49-F238E27FC236}">
                  <a16:creationId xmlns:a16="http://schemas.microsoft.com/office/drawing/2014/main" id="{8558C2F7-92C9-4ED9-A7F6-36896AE39BAD}"/>
                </a:ext>
              </a:extLst>
            </p:cNvPr>
            <p:cNvSpPr/>
            <p:nvPr/>
          </p:nvSpPr>
          <p:spPr>
            <a:xfrm>
              <a:off x="0" y="0"/>
              <a:ext cx="4816592" cy="543967"/>
            </a:xfrm>
            <a:custGeom>
              <a:avLst/>
              <a:gdLst/>
              <a:ahLst/>
              <a:cxnLst/>
              <a:rect l="l" t="t" r="r" b="b"/>
              <a:pathLst>
                <a:path w="4816592" h="543967">
                  <a:moveTo>
                    <a:pt x="0" y="0"/>
                  </a:moveTo>
                  <a:lnTo>
                    <a:pt x="4816592" y="0"/>
                  </a:lnTo>
                  <a:lnTo>
                    <a:pt x="4816592" y="543967"/>
                  </a:lnTo>
                  <a:lnTo>
                    <a:pt x="0" y="543967"/>
                  </a:lnTo>
                  <a:close/>
                </a:path>
              </a:pathLst>
            </a:custGeom>
            <a:gradFill rotWithShape="1">
              <a:gsLst>
                <a:gs pos="0">
                  <a:srgbClr val="B81B22">
                    <a:alpha val="100000"/>
                  </a:srgbClr>
                </a:gs>
                <a:gs pos="25000">
                  <a:srgbClr val="B81B22">
                    <a:alpha val="99500"/>
                  </a:srgbClr>
                </a:gs>
                <a:gs pos="50000">
                  <a:srgbClr val="E82A34">
                    <a:alpha val="100000"/>
                  </a:srgbClr>
                </a:gs>
                <a:gs pos="75000">
                  <a:srgbClr val="F89DA1">
                    <a:alpha val="100000"/>
                  </a:srgbClr>
                </a:gs>
                <a:gs pos="100000">
                  <a:srgbClr val="FFFFFF">
                    <a:alpha val="99500"/>
                  </a:srgbClr>
                </a:gs>
              </a:gsLst>
              <a:lin ang="0"/>
            </a:gradFill>
          </p:spPr>
        </p:sp>
        <p:sp>
          <p:nvSpPr>
            <p:cNvPr id="30" name="TextBox 4">
              <a:extLst>
                <a:ext uri="{FF2B5EF4-FFF2-40B4-BE49-F238E27FC236}">
                  <a16:creationId xmlns:a16="http://schemas.microsoft.com/office/drawing/2014/main" id="{CC107A00-22F6-47C1-AAF1-49AC9E4F1FE8}"/>
                </a:ext>
              </a:extLst>
            </p:cNvPr>
            <p:cNvSpPr txBox="1"/>
            <p:nvPr/>
          </p:nvSpPr>
          <p:spPr>
            <a:xfrm>
              <a:off x="0" y="-47625"/>
              <a:ext cx="4816593" cy="5915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>
                <a:latin typeface="標楷體" panose="03000509000000000000" pitchFamily="65" charset="-120"/>
                <a:ea typeface="標楷體" panose="03000509000000000000" pitchFamily="65" charset="-120"/>
              </a:endParaRPr>
            </a:p>
          </p:txBody>
        </p:sp>
      </p:grpSp>
      <p:sp>
        <p:nvSpPr>
          <p:cNvPr id="34" name="TextBox 8">
            <a:extLst>
              <a:ext uri="{FF2B5EF4-FFF2-40B4-BE49-F238E27FC236}">
                <a16:creationId xmlns:a16="http://schemas.microsoft.com/office/drawing/2014/main" id="{6A6E9B8B-C857-4E5F-B514-20784942772F}"/>
              </a:ext>
            </a:extLst>
          </p:cNvPr>
          <p:cNvSpPr txBox="1"/>
          <p:nvPr/>
        </p:nvSpPr>
        <p:spPr>
          <a:xfrm>
            <a:off x="304800" y="110995"/>
            <a:ext cx="9571413" cy="132151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1200"/>
              </a:lnSpc>
              <a:spcBef>
                <a:spcPct val="0"/>
              </a:spcBef>
            </a:pPr>
            <a:r>
              <a:rPr lang="zh-TW" altLang="en-US" sz="8000" dirty="0">
                <a:solidFill>
                  <a:srgbClr val="FFFF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王漢宗顏楷體"/>
              </a:rPr>
              <a:t>超連結</a:t>
            </a:r>
            <a:endParaRPr lang="en-US" altLang="zh-TW" sz="8000" dirty="0">
              <a:solidFill>
                <a:srgbClr val="FFFF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  <a:sym typeface="王漢宗顏楷體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9B82ED9-4011-42B0-BD0E-2DBD1823CC7E}"/>
              </a:ext>
            </a:extLst>
          </p:cNvPr>
          <p:cNvSpPr txBox="1"/>
          <p:nvPr/>
        </p:nvSpPr>
        <p:spPr>
          <a:xfrm>
            <a:off x="16708957" y="9685054"/>
            <a:ext cx="12778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(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  <a:cs typeface="王漢宗顏楷體"/>
                <a:sym typeface="王漢宗顏楷體"/>
              </a:rPr>
              <a:t>Currying</a:t>
            </a:r>
            <a:r>
              <a:rPr lang="en-US" altLang="zh-TW" sz="2000" dirty="0">
                <a:latin typeface="Times New Roman" panose="02020603050405020304" pitchFamily="18" charset="0"/>
                <a:ea typeface="標楷體" panose="03000509000000000000" pitchFamily="65" charset="-120"/>
              </a:rPr>
              <a:t>)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F39B56E-64D4-4C56-A146-116CC87F9DBE}"/>
              </a:ext>
            </a:extLst>
          </p:cNvPr>
          <p:cNvSpPr/>
          <p:nvPr/>
        </p:nvSpPr>
        <p:spPr>
          <a:xfrm flipV="1">
            <a:off x="8242300" y="5853917"/>
            <a:ext cx="2209800" cy="1243445"/>
          </a:xfrm>
          <a:prstGeom prst="rect">
            <a:avLst/>
          </a:prstGeom>
          <a:solidFill>
            <a:srgbClr val="FFD580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272304FC-8E8D-4A20-A14E-F3C98FE1FA75}"/>
              </a:ext>
            </a:extLst>
          </p:cNvPr>
          <p:cNvSpPr/>
          <p:nvPr/>
        </p:nvSpPr>
        <p:spPr>
          <a:xfrm flipV="1">
            <a:off x="5001738" y="8828105"/>
            <a:ext cx="2209800" cy="1243445"/>
          </a:xfrm>
          <a:prstGeom prst="rect">
            <a:avLst/>
          </a:prstGeom>
          <a:solidFill>
            <a:srgbClr val="ADD9ED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38F827C-6AA4-433A-9947-AC0B2582CDD1}"/>
              </a:ext>
            </a:extLst>
          </p:cNvPr>
          <p:cNvSpPr/>
          <p:nvPr/>
        </p:nvSpPr>
        <p:spPr>
          <a:xfrm flipV="1">
            <a:off x="4859153" y="5646041"/>
            <a:ext cx="2209800" cy="1243445"/>
          </a:xfrm>
          <a:prstGeom prst="rect">
            <a:avLst/>
          </a:prstGeom>
          <a:solidFill>
            <a:srgbClr val="FCDFC0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64319A8-99E4-4497-98F6-258B9E7315A0}"/>
              </a:ext>
            </a:extLst>
          </p:cNvPr>
          <p:cNvSpPr/>
          <p:nvPr/>
        </p:nvSpPr>
        <p:spPr>
          <a:xfrm flipV="1">
            <a:off x="1195779" y="8927117"/>
            <a:ext cx="2209800" cy="1243445"/>
          </a:xfrm>
          <a:prstGeom prst="rect">
            <a:avLst/>
          </a:prstGeom>
          <a:solidFill>
            <a:srgbClr val="B1D5F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CCCE3EA-4A7F-4F53-8DC9-C9EEBE3B072F}"/>
              </a:ext>
            </a:extLst>
          </p:cNvPr>
          <p:cNvSpPr/>
          <p:nvPr/>
        </p:nvSpPr>
        <p:spPr>
          <a:xfrm flipV="1">
            <a:off x="8610600" y="8932560"/>
            <a:ext cx="2209800" cy="1243445"/>
          </a:xfrm>
          <a:prstGeom prst="rect">
            <a:avLst/>
          </a:prstGeom>
          <a:solidFill>
            <a:srgbClr val="64A9F6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298074B3-6956-4A34-A791-EC3C848B18A2}"/>
              </a:ext>
            </a:extLst>
          </p:cNvPr>
          <p:cNvSpPr/>
          <p:nvPr/>
        </p:nvSpPr>
        <p:spPr>
          <a:xfrm flipV="1">
            <a:off x="1371600" y="4170177"/>
            <a:ext cx="2209800" cy="1243445"/>
          </a:xfrm>
          <a:prstGeom prst="rect">
            <a:avLst/>
          </a:prstGeom>
          <a:solidFill>
            <a:srgbClr val="FCEAD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478961F-99FF-40F8-88DE-D3B4D60C22DE}"/>
              </a:ext>
            </a:extLst>
          </p:cNvPr>
          <p:cNvSpPr/>
          <p:nvPr/>
        </p:nvSpPr>
        <p:spPr>
          <a:xfrm flipV="1">
            <a:off x="1409700" y="7266294"/>
            <a:ext cx="2209800" cy="1243445"/>
          </a:xfrm>
          <a:prstGeom prst="rect">
            <a:avLst/>
          </a:prstGeom>
          <a:solidFill>
            <a:srgbClr val="E2F0D7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BC0AF2B-BD8F-4E73-815F-B89D1182CEC0}"/>
              </a:ext>
            </a:extLst>
          </p:cNvPr>
          <p:cNvSpPr/>
          <p:nvPr/>
        </p:nvSpPr>
        <p:spPr>
          <a:xfrm flipV="1">
            <a:off x="8267700" y="7363905"/>
            <a:ext cx="2209800" cy="1243445"/>
          </a:xfrm>
          <a:prstGeom prst="rect">
            <a:avLst/>
          </a:prstGeom>
          <a:solidFill>
            <a:srgbClr val="93D352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7A0F2592-5E01-44CE-99C5-9F1C11110CEC}"/>
              </a:ext>
            </a:extLst>
          </p:cNvPr>
          <p:cNvSpPr/>
          <p:nvPr/>
        </p:nvSpPr>
        <p:spPr>
          <a:xfrm flipV="1">
            <a:off x="4969741" y="7145672"/>
            <a:ext cx="2209800" cy="1243445"/>
          </a:xfrm>
          <a:prstGeom prst="rect">
            <a:avLst/>
          </a:prstGeom>
          <a:solidFill>
            <a:srgbClr val="A2D3B0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3F8089B-EF5E-41D6-ACDD-7715DA8C7FB3}"/>
              </a:ext>
            </a:extLst>
          </p:cNvPr>
          <p:cNvSpPr/>
          <p:nvPr/>
        </p:nvSpPr>
        <p:spPr>
          <a:xfrm flipV="1">
            <a:off x="10447565" y="4159082"/>
            <a:ext cx="2209800" cy="1243445"/>
          </a:xfrm>
          <a:prstGeom prst="rect">
            <a:avLst/>
          </a:prstGeom>
          <a:solidFill>
            <a:srgbClr val="FCC4FB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742C962F-3A88-47FC-ADB5-4513064CDFF1}"/>
              </a:ext>
            </a:extLst>
          </p:cNvPr>
          <p:cNvSpPr/>
          <p:nvPr/>
        </p:nvSpPr>
        <p:spPr>
          <a:xfrm flipV="1">
            <a:off x="10972800" y="7315722"/>
            <a:ext cx="2209800" cy="1243445"/>
          </a:xfrm>
          <a:prstGeom prst="rect">
            <a:avLst/>
          </a:prstGeom>
          <a:solidFill>
            <a:srgbClr val="9F9DC8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725AAB06-95DC-4413-9437-41F081897704}"/>
              </a:ext>
            </a:extLst>
          </p:cNvPr>
          <p:cNvSpPr/>
          <p:nvPr/>
        </p:nvSpPr>
        <p:spPr>
          <a:xfrm flipV="1">
            <a:off x="10668000" y="5729631"/>
            <a:ext cx="2209800" cy="1243445"/>
          </a:xfrm>
          <a:prstGeom prst="rect">
            <a:avLst/>
          </a:prstGeom>
          <a:solidFill>
            <a:srgbClr val="C9C1E1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62C35985-74F9-4B47-974B-4C4EE7FCD837}"/>
              </a:ext>
            </a:extLst>
          </p:cNvPr>
          <p:cNvSpPr/>
          <p:nvPr/>
        </p:nvSpPr>
        <p:spPr>
          <a:xfrm flipV="1">
            <a:off x="4468091" y="4170177"/>
            <a:ext cx="2209800" cy="1243445"/>
          </a:xfrm>
          <a:prstGeom prst="rect">
            <a:avLst/>
          </a:prstGeom>
          <a:solidFill>
            <a:srgbClr val="FFD5C4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E9FB946-046A-4381-BC63-90EC96C663CD}"/>
              </a:ext>
            </a:extLst>
          </p:cNvPr>
          <p:cNvSpPr/>
          <p:nvPr/>
        </p:nvSpPr>
        <p:spPr>
          <a:xfrm flipV="1">
            <a:off x="1640939" y="5646041"/>
            <a:ext cx="2209800" cy="1243445"/>
          </a:xfrm>
          <a:prstGeom prst="rect">
            <a:avLst/>
          </a:prstGeom>
          <a:solidFill>
            <a:srgbClr val="FBECA2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B529FE49-E154-4D96-BE00-2600026CDA6E}"/>
              </a:ext>
            </a:extLst>
          </p:cNvPr>
          <p:cNvSpPr/>
          <p:nvPr/>
        </p:nvSpPr>
        <p:spPr>
          <a:xfrm flipV="1">
            <a:off x="7966363" y="4099839"/>
            <a:ext cx="2209800" cy="1243445"/>
          </a:xfrm>
          <a:prstGeom prst="rect">
            <a:avLst/>
          </a:prstGeom>
          <a:solidFill>
            <a:srgbClr val="F6C0CE"/>
          </a:solidFill>
          <a:ln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193276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square">
        <a:spAutoFit/>
      </a:bodyPr>
      <a:lstStyle>
        <a:defPPr algn="l">
          <a:defRPr sz="2400" dirty="0">
            <a:latin typeface="Times New Roman" panose="02020603050405020304" pitchFamily="18" charset="0"/>
            <a:ea typeface="標楷體" panose="03000509000000000000" pitchFamily="65" charset="-120"/>
          </a:defRPr>
        </a:defPPr>
      </a:lst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13298</TotalTime>
  <Words>1674</Words>
  <Application>Microsoft Office PowerPoint</Application>
  <PresentationFormat>自訂</PresentationFormat>
  <Paragraphs>148</Paragraphs>
  <Slides>25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1" baseType="lpstr">
      <vt:lpstr>Arial</vt:lpstr>
      <vt:lpstr>Calibri</vt:lpstr>
      <vt:lpstr>Times New Roman</vt:lpstr>
      <vt:lpstr>標楷體</vt:lpstr>
      <vt:lpstr>Wingdings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氣體demo</dc:title>
  <dc:creator>陳維誠</dc:creator>
  <cp:lastModifiedBy>維誠 陳</cp:lastModifiedBy>
  <cp:revision>316</cp:revision>
  <dcterms:created xsi:type="dcterms:W3CDTF">2006-08-16T00:00:00Z</dcterms:created>
  <dcterms:modified xsi:type="dcterms:W3CDTF">2024-12-08T05:29:59Z</dcterms:modified>
  <dc:identifier>DAGRTmEneC4</dc:identifier>
</cp:coreProperties>
</file>